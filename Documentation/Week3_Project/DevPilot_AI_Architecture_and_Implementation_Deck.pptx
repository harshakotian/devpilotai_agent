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228600"/>
            <a:ext cx="3566160" cy="3566160"/>
          </a:xfrm>
          <a:prstGeom prst="arc">
            <a:avLst/>
          </a:prstGeom>
          <a:solidFill>
            <a:srgbClr val="0B1F3A">
              <a:alpha val="0"/>
            </a:srgbClr>
          </a:solidFill>
          <a:ln w="25400">
            <a:solidFill>
              <a:srgbClr val="1BAE9D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1920240"/>
            <a:ext cx="2560320" cy="2560320"/>
          </a:xfrm>
          <a:prstGeom prst="arc">
            <a:avLst/>
          </a:prstGeom>
          <a:solidFill>
            <a:srgbClr val="0B1F3A">
              <a:alpha val="0"/>
            </a:srgbClr>
          </a:solidFill>
          <a:ln w="15240">
            <a:solidFill>
              <a:srgbClr val="6EE7B7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6187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DevPilot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0391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8FF"/>
                </a:solidFill>
              </a:rPr>
              <a:t>Agentic Engineering &amp; Delivery Command Center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86384" y="2578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Implementation Plan | Architecture | Step-by-step Execution Guide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42D4C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60520"/>
            <a:ext cx="1234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Requirement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Analysis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40690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142D4C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4160520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Repository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Understanding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406908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142D4C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4160520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406908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142D4C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4160520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35240" y="406908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142D4C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4160520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Approval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281160" y="406908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142D4C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4160520"/>
            <a:ext cx="1280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 / Delivery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4425696"/>
            <a:ext cx="256032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96512" y="4425696"/>
            <a:ext cx="256032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96712" y="4425696"/>
            <a:ext cx="256032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42632" y="4425696"/>
            <a:ext cx="256032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88552" y="4425696"/>
            <a:ext cx="256032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86384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FF"/>
                </a:solidFill>
              </a:rPr>
              <a:t>Built to stand out as a public portfolio project: .NET + Azure + RAG + LangGraph + DevOps + Security + Observability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DevPilot AI stands 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It demonstrates end-to-end engineering judgment, not just prompt output.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77A"/>
                </a:solidFill>
              </a:rPr>
              <a:t>Most AI portfolio projects stop here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DevPilot AI goes here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11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One-shot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LLM 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67712" y="2258568"/>
            <a:ext cx="475488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192024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011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Simple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RAG lookup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2258568"/>
            <a:ext cx="502920" cy="0"/>
          </a:xfrm>
          <a:prstGeom prst="line">
            <a:avLst/>
          </a:prstGeom>
          <a:noFill/>
          <a:ln w="1524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19202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0116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Pretty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Demo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3337560"/>
            <a:ext cx="0" cy="-141732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833872" y="2724912"/>
            <a:ext cx="493776" cy="384048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828800"/>
            <a:ext cx="1298448" cy="749808"/>
          </a:xfrm>
          <a:prstGeom prst="roundRect">
            <a:avLst>
              <a:gd name="adj" fmla="val 9756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920240"/>
            <a:ext cx="1115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Stateful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Agent Graph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90688" y="2203704"/>
            <a:ext cx="438912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75320" y="1828800"/>
            <a:ext cx="1261872" cy="749808"/>
          </a:xfrm>
          <a:prstGeom prst="roundRect">
            <a:avLst>
              <a:gd name="adj" fmla="val 9756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920240"/>
            <a:ext cx="10789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Tool Use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Memory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82912" y="2203704"/>
            <a:ext cx="438912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58400" y="1828800"/>
            <a:ext cx="1298448" cy="749808"/>
          </a:xfrm>
          <a:prstGeom prst="roundRect">
            <a:avLst>
              <a:gd name="adj" fmla="val 9756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0" y="1920240"/>
            <a:ext cx="1115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Human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3154680"/>
            <a:ext cx="1298448" cy="749808"/>
          </a:xfrm>
          <a:prstGeom prst="roundRect">
            <a:avLst>
              <a:gd name="adj" fmla="val 9756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246120"/>
            <a:ext cx="1115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Architecture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Reasoning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90688" y="3529584"/>
            <a:ext cx="438912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75320" y="3154680"/>
            <a:ext cx="1261872" cy="749808"/>
          </a:xfrm>
          <a:prstGeom prst="roundRect">
            <a:avLst>
              <a:gd name="adj" fmla="val 9756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246120"/>
            <a:ext cx="10789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Review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Security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82912" y="3529584"/>
            <a:ext cx="438912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058400" y="3154680"/>
            <a:ext cx="1298448" cy="749808"/>
          </a:xfrm>
          <a:prstGeom prst="roundRect">
            <a:avLst>
              <a:gd name="adj" fmla="val 9756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0" y="3246120"/>
            <a:ext cx="1115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Measured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Evals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4663440"/>
            <a:ext cx="10607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100584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Career signal: Technical Lead + Solution Architect + AI Engineer + DevOps story in one coherent build.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vision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An AI Engineering Lead that converts requirements into delivery-ready engineering output.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User submits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Requirement or PR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04288" y="2880360"/>
            <a:ext cx="530352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224028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317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DevPilot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understands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2880360"/>
            <a:ext cx="530352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0" y="24688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60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Creates plan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+ approval gates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31152" y="2880360"/>
            <a:ext cx="5486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71232" y="246888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EEE8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672" y="2560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Runs review,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security &amp; test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36608" y="2880360"/>
            <a:ext cx="5486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76688" y="24688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8128" y="25603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Produces PR-ready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delivery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4983480"/>
            <a:ext cx="10287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5129784"/>
            <a:ext cx="99212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238"/>
                </a:solidFill>
              </a:rPr>
              <a:t>One-liner: DevPilot AI helps engineering leads convert software requirements into architecture, implementation plans, code intelligence, review findings, security checks, testing strategy, and delivery-ready pull requests through a stateful multi-agent workflow.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20240" y="11887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29968" y="126187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Autonomous reads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94760" y="11887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04488" y="126187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Approved writes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0" y="11887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12618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Explainable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635240" y="118872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126187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Measurable quality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Split product API and agent runtime so the project feels production-grade.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325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React / Next.js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Agent Dashboard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743200" y="123444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325880"/>
            <a:ext cx="1691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ASP.NET Core API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Projects, Auth, Approvals, Audit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321808" y="1234440"/>
            <a:ext cx="1627632" cy="713232"/>
          </a:xfrm>
          <a:prstGeom prst="roundRect">
            <a:avLst>
              <a:gd name="adj" fmla="val 10256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325880"/>
            <a:ext cx="14447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Azure Service Bus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Agent Work Queue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635240" y="1234440"/>
            <a:ext cx="1627632" cy="713232"/>
          </a:xfrm>
          <a:prstGeom prst="roundRect">
            <a:avLst>
              <a:gd name="adj" fmla="val 10256"/>
            </a:avLst>
          </a:prstGeom>
          <a:solidFill>
            <a:srgbClr val="FCE4D6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325880"/>
            <a:ext cx="14447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Python Worker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LangGraph Runtime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0058400" y="123444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E2F0D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0" y="1325880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LLM Provider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OpenAI / Azure / Local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157984" y="1591056"/>
            <a:ext cx="539496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1591056"/>
            <a:ext cx="61264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95160" y="1591056"/>
            <a:ext cx="59436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08592" y="1591056"/>
            <a:ext cx="70408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34440" y="3108960"/>
            <a:ext cx="1828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200400"/>
            <a:ext cx="1645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PostgreSQL + pgvector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repo chunks, memory, embeddings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3703320" y="3108960"/>
            <a:ext cx="1417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3200400"/>
            <a:ext cx="1234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Redis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execution cache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715000" y="3108960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200400"/>
            <a:ext cx="1600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GitHub / Azure DevOps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repo, branch, PR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183880" y="3108960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200400"/>
            <a:ext cx="1691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OpenTelemetry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2238"/>
                </a:solidFill>
              </a:rPr>
              <a:t>traces, cost, quality metrics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675888" y="1975104"/>
            <a:ext cx="-1527048" cy="109728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75888" y="1975104"/>
            <a:ext cx="731520" cy="109728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458200" y="1975104"/>
            <a:ext cx="-1828800" cy="109728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58200" y="1975104"/>
            <a:ext cx="667512" cy="109728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400" y="5074920"/>
            <a:ext cx="1028700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5230368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 message: enterprise .NET product shell + specialized Python agent brain + Azure-native deployment path.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The orchestrator routes specialized agents through a controlled delivery lifecycle.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Requirement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Agent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554480" y="2203704"/>
            <a:ext cx="2286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28800" y="182880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920240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Repository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Agent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880360" y="2203704"/>
            <a:ext cx="2286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54680" y="182880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20240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Architect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Agent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206240" y="2203704"/>
            <a:ext cx="2286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182880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20240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Planning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Agent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532120" y="2203704"/>
            <a:ext cx="2286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06440" y="182880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920240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Human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Approval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0" y="2203704"/>
            <a:ext cx="2286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182880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FCE4D6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920240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Developer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Agent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183880" y="2203704"/>
            <a:ext cx="2286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58200" y="182880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EEE8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1920240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Parallel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Verification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9509760" y="2203704"/>
            <a:ext cx="2286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84080" y="182880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E2F0D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1920240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Judge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52238"/>
                </a:solidFill>
              </a:rPr>
              <a:t>Agent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8275320" y="306324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1546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238"/>
                </a:solidFill>
              </a:rPr>
              <a:t>Code Review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281160" y="306324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31546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238"/>
                </a:solidFill>
              </a:rPr>
              <a:t>Security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287000" y="306324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78440" y="31546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238"/>
                </a:solidFill>
              </a:rPr>
              <a:t>Tests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997696" y="2587752"/>
            <a:ext cx="-219456" cy="448056"/>
          </a:xfrm>
          <a:prstGeom prst="line">
            <a:avLst/>
          </a:prstGeom>
          <a:noFill/>
          <a:ln w="15240">
            <a:solidFill>
              <a:srgbClr val="EEE8F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997696" y="2587752"/>
            <a:ext cx="786384" cy="448056"/>
          </a:xfrm>
          <a:prstGeom prst="line">
            <a:avLst/>
          </a:prstGeom>
          <a:noFill/>
          <a:ln w="15240">
            <a:solidFill>
              <a:srgbClr val="EEE8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997696" y="2587752"/>
            <a:ext cx="1792224" cy="448056"/>
          </a:xfrm>
          <a:prstGeom prst="line">
            <a:avLst/>
          </a:prstGeom>
          <a:noFill/>
          <a:ln w="15240">
            <a:solidFill>
              <a:srgbClr val="EEE8F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314432" y="2212848"/>
            <a:ext cx="0" cy="2404872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0314432" y="4617720"/>
            <a:ext cx="-3044952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114032" y="4754880"/>
            <a:ext cx="3337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</a:rPr>
              <a:t>If judge fails: repair loop returns to Developer Agent with exact findings.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646920" y="5349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Final output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52560" y="5559552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56509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PR-ready delivery 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with evidence and scorecard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State, memory, and knowledge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Make the hard part visible: what the agent remembers and where it lives.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Execution 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current task, node, retries, errors, approvals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65192" y="14630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2F0D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56632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Project 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repo map, coding standards, ADRs, past findings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0" y="14630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Long-term Knowledge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security rules, incidents, architecture policy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703320"/>
            <a:ext cx="1828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794760"/>
            <a:ext cx="1645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LangGraph Checkpointer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resumable graph runs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66360" y="3703320"/>
            <a:ext cx="1828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3794760"/>
            <a:ext cx="1645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Vector 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semantic repo + docs retrieval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52560" y="3703320"/>
            <a:ext cx="20574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3794760"/>
            <a:ext cx="1874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Engineering Knowledge Graph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impact + dependency reasoning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38528" y="2450592"/>
            <a:ext cx="0" cy="1207008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2450592"/>
            <a:ext cx="0" cy="1207008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68128" y="2450592"/>
            <a:ext cx="0" cy="1207008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71800" y="4050792"/>
            <a:ext cx="214884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4050792"/>
            <a:ext cx="19659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34440" y="54864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This is the difference between chat history and engineering-grade application state.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Build small, complete, and demonstrable first - then deepen the portfolio version.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Setup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24128" y="2267712"/>
            <a:ext cx="74980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0136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4533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Repo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Intelligence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58568" y="2267712"/>
            <a:ext cx="74980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3580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7977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LangGraph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Orchestration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93008" y="2267712"/>
            <a:ext cx="74980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7024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1421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Core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Agents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27448" y="2267712"/>
            <a:ext cx="74980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4865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Human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Approval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61888" y="2267712"/>
            <a:ext cx="74980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3912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8309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UI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Dashboard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96328" y="2267712"/>
            <a:ext cx="74980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7356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500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1753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Git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Integration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430768" y="2267712"/>
            <a:ext cx="74980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20800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944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5197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Evals +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Observability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665208" y="2267712"/>
            <a:ext cx="749808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442448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33888" y="2148840"/>
            <a:ext cx="237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86416" y="263347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Azure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2238"/>
                </a:solidFill>
              </a:rPr>
              <a:t>Deploy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68680" y="397764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D9F0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Certification MVP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Agent graph + repo search + approval + demo run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26280" y="397764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4133088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Portfolio Version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.NET API + UI + GitHub + Docker + Azure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83880" y="397764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3CD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75904" y="4133088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Standout Version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Architecture drift + knowledge graph + eval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structure and contracts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clean mono-repo keeps the implementation explainable.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devpilot-ai/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3931920" cy="429768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55648"/>
            <a:ext cx="3520440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api-dotnet/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 | Application | Domain | Infrastructure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agent-python/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graphs | agents | tools | memory | evals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| components | agent-run-ui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 | azure | github-actions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architecture | decisions | demo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dotnet-commerce-api/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41732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508760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API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Run, Step, ToolCall, Approval, Finding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03920" y="141732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508760"/>
            <a:ext cx="2240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Agent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input schema, output schema, tools, stopping condition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88036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971800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Tool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permission: read | proposed-write | write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288036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EEE8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971800"/>
            <a:ext cx="2240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Evaluation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score rubric, evidence, pass/fail threshold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1819656"/>
            <a:ext cx="59436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63840" y="3282696"/>
            <a:ext cx="59436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650992" y="4846320"/>
            <a:ext cx="5074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Design rule: every agent and tool must be testable independently before it enters the LangGraph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Human-in-the-loop and guardrails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The system earns trust by controlling what can happen autonomously.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2240280" cy="2194560"/>
          </a:xfrm>
          <a:prstGeom prst="roundRect">
            <a:avLst>
              <a:gd name="adj" fmla="val 3333"/>
            </a:avLst>
          </a:prstGeom>
          <a:solidFill>
            <a:srgbClr val="E2F0D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2057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Autonomous READS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repo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file 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knowledge lookup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scoring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554480"/>
            <a:ext cx="2240280" cy="2194560"/>
          </a:xfrm>
          <a:prstGeom prst="roundRect">
            <a:avLst>
              <a:gd name="adj" fmla="val 3333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45920"/>
            <a:ext cx="2057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Approval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create branch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apply patch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create PR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update work item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send notification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1554480"/>
            <a:ext cx="2240280" cy="2194560"/>
          </a:xfrm>
          <a:prstGeom prst="roundRect">
            <a:avLst>
              <a:gd name="adj" fmla="val 3333"/>
            </a:avLst>
          </a:prstGeom>
          <a:solidFill>
            <a:srgbClr val="FCE4D6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645920"/>
            <a:ext cx="2057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Never Autonomous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merge PR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deploy production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delete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expose secrets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change permissions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14630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2651760"/>
            <a:ext cx="14630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0120" y="4892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Governance 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4892040"/>
            <a:ext cx="7772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8"/>
                </a:solidFill>
              </a:rPr>
              <a:t>Every tool call is classified, logged, and tied to a run step. Every write request carries risk level, evidence, and explicit human approval.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and evaluation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Move the story from “AI generated output” to “AI workflow measured quality.”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94%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Architecture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Compliance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5544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645920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97%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718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Tool Call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Success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15544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645920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11%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Human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Intervention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645920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72s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5236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Median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Run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38360" y="15544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1645920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$0.18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9264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Estimated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52238"/>
                </a:solidFill>
              </a:rPr>
              <a:t>Cost / Run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88720" y="3886200"/>
            <a:ext cx="9784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4224528"/>
            <a:ext cx="9144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</a:rPr>
              <a:t>Evaluation rubric: requirement completeness, architecture compliance, security risk, test coverage, code quality, hallucination rate, latency, cost, retry count, and approval rate.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417320" y="546811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27048" y="554126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LangSmith / traces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546811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D9F0EC"/>
          </a:solidFill>
          <a:ln w="12700">
            <a:solidFill>
              <a:srgbClr val="D9F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5541264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OpenTelemetry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54681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84648" y="554126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Application Insights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86600" y="546811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6328" y="554126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Custom eval suite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06840" y="5468112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16568" y="5541264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Run scorecard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and Azure deployment path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Start local with Docker Compose; deploy the same boundaries to Azure.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EAF4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Local Dev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Docker Compose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API + Web + Worker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Postgres + Redis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2468880"/>
            <a:ext cx="7315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94760" y="18288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9F0EC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9202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CI/CD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GitHub 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Build, test, scan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containerize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2468880"/>
            <a:ext cx="7315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20840" y="182880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FFF3CD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92024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Azure Runtime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Container Apps / App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Service Bus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Key Vault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2468880"/>
            <a:ext cx="7315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92640" y="18288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E2F0D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19202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Monitoring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App Insights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traces, metrics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alerts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457200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36592"/>
            <a:ext cx="9555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Execution demo task: “Add Redis distributed caching to Product API using cache-aside strategy with safe fallback.”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demo and publishing checklist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strong README and 5-minute demo will make the project discoverable and credible.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1325880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00200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5-minute demo 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1600200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Portfolio polish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1. Introduce problem and product 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2. Show architecture and agent workflow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3. Submit sample requirement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4. Watch agent trace and repository discovery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06908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5. Approve plan before write 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205740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6. Show review/security/test agents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56032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7. Demonstrate one failure recovery path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306324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8. Show final scorecard and delivery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356616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9. Publish GitHub README with diagrams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4069080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</a:rPr>
              <a:t>10. Add roadmap: drift detection + knowledge graph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59893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Ship the MVP first. Then add the standout features.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DevPilot AI - Architecture and Implementation Plan</dc:title>
  <dc:subject>DevPilot AI Implementation Plan</dc:subject>
  <dc:creator>OpenAI</dc:creator>
  <cp:lastModifiedBy>OpenAI</cp:lastModifiedBy>
  <cp:revision>1</cp:revision>
  <dcterms:created xsi:type="dcterms:W3CDTF">2026-08-27T18:19:50Z</dcterms:created>
  <dcterms:modified xsi:type="dcterms:W3CDTF">2026-08-27T18:19:50Z</dcterms:modified>
</cp:coreProperties>
</file>